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13"/>
  </p:notesMasterIdLst>
  <p:sldIdLst>
    <p:sldId id="334" r:id="rId4"/>
    <p:sldId id="300" r:id="rId5"/>
    <p:sldId id="328" r:id="rId6"/>
    <p:sldId id="338" r:id="rId7"/>
    <p:sldId id="339" r:id="rId8"/>
    <p:sldId id="341" r:id="rId9"/>
    <p:sldId id="326" r:id="rId10"/>
    <p:sldId id="331" r:id="rId11"/>
    <p:sldId id="340" r:id="rId12"/>
  </p:sldIdLst>
  <p:sldSz cx="12192000" cy="6858000"/>
  <p:notesSz cx="6858000" cy="9144000"/>
  <p:custDataLst>
    <p:tags r:id="rId1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3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85C3"/>
    <a:srgbClr val="FFFFFF"/>
    <a:srgbClr val="3E56A3"/>
    <a:srgbClr val="2C489A"/>
    <a:srgbClr val="2C489B"/>
    <a:srgbClr val="2B4A99"/>
    <a:srgbClr val="4466A2"/>
    <a:srgbClr val="2F5597"/>
    <a:srgbClr val="3E57A3"/>
    <a:srgbClr val="3F57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291" autoAdjust="0"/>
    <p:restoredTop sz="94660"/>
  </p:normalViewPr>
  <p:slideViewPr>
    <p:cSldViewPr snapToGrid="0" showGuides="1">
      <p:cViewPr varScale="1">
        <p:scale>
          <a:sx n="74" d="100"/>
          <a:sy n="74" d="100"/>
        </p:scale>
        <p:origin x="690" y="66"/>
      </p:cViewPr>
      <p:guideLst>
        <p:guide orient="horz" pos="223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Relationship Id="rId17" Type="http://schemas.openxmlformats.org/officeDocument/2006/relationships/tags" Target="tags/tag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Relationship Id="rId12" Type="http://schemas.openxmlformats.org/officeDocument/2006/relationships/tags" Target="../tags/tag11.xml"/><Relationship Id="rId13" Type="http://schemas.openxmlformats.org/officeDocument/2006/relationships/tags" Target="../tags/tag12.xml"/><Relationship Id="rId14" Type="http://schemas.openxmlformats.org/officeDocument/2006/relationships/tags" Target="../tags/tag13.xml"/><Relationship Id="rId15" Type="http://schemas.openxmlformats.org/officeDocument/2006/relationships/tags" Target="../tags/tag14.xml"/><Relationship Id="rId16" Type="http://schemas.openxmlformats.org/officeDocument/2006/relationships/tags" Target="../tags/tag15.xml"/><Relationship Id="rId17" Type="http://schemas.openxmlformats.org/officeDocument/2006/relationships/tags" Target="../tags/tag16.xml"/><Relationship Id="rId18" Type="http://schemas.openxmlformats.org/officeDocument/2006/relationships/tags" Target="../tags/tag17.xml"/><Relationship Id="rId19" Type="http://schemas.openxmlformats.org/officeDocument/2006/relationships/tags" Target="../tags/tag18.xml"/><Relationship Id="rId20" Type="http://schemas.openxmlformats.org/officeDocument/2006/relationships/tags" Target="../tags/tag19.xml"/><Relationship Id="rId21" Type="http://schemas.openxmlformats.org/officeDocument/2006/relationships/tags" Target="../tags/tag20.xml"/><Relationship Id="rId22" Type="http://schemas.openxmlformats.org/officeDocument/2006/relationships/tags" Target="../tags/tag21.xml"/><Relationship Id="rId23" Type="http://schemas.openxmlformats.org/officeDocument/2006/relationships/tags" Target="../tags/tag22.xml"/><Relationship Id="rId24" Type="http://schemas.openxmlformats.org/officeDocument/2006/relationships/tags" Target="../tags/tag23.xml"/><Relationship Id="rId25" Type="http://schemas.openxmlformats.org/officeDocument/2006/relationships/tags" Target="../tags/tag24.xml"/><Relationship Id="rId26" Type="http://schemas.openxmlformats.org/officeDocument/2006/relationships/slideLayout" Target="../slideLayouts/slideLayout12.xml"/><Relationship Id="rId2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tags" Target="../tags/tag25.xml"/><Relationship Id="rId3" Type="http://schemas.openxmlformats.org/officeDocument/2006/relationships/tags" Target="../tags/tag26.xml"/><Relationship Id="rId4" Type="http://schemas.openxmlformats.org/officeDocument/2006/relationships/tags" Target="../tags/tag27.xml"/><Relationship Id="rId5" Type="http://schemas.openxmlformats.org/officeDocument/2006/relationships/tags" Target="../tags/tag28.xml"/><Relationship Id="rId6" Type="http://schemas.openxmlformats.org/officeDocument/2006/relationships/tags" Target="../tags/tag29.xml"/><Relationship Id="rId7" Type="http://schemas.openxmlformats.org/officeDocument/2006/relationships/tags" Target="../tags/tag30.xml"/><Relationship Id="rId8" Type="http://schemas.openxmlformats.org/officeDocument/2006/relationships/tags" Target="../tags/tag31.xml"/><Relationship Id="rId9" Type="http://schemas.openxmlformats.org/officeDocument/2006/relationships/tags" Target="../tags/tag32.xml"/><Relationship Id="rId10" Type="http://schemas.openxmlformats.org/officeDocument/2006/relationships/tags" Target="../tags/tag33.xml"/><Relationship Id="rId11" Type="http://schemas.openxmlformats.org/officeDocument/2006/relationships/tags" Target="../tags/tag34.xml"/><Relationship Id="rId12" Type="http://schemas.openxmlformats.org/officeDocument/2006/relationships/tags" Target="../tags/tag35.xml"/><Relationship Id="rId13" Type="http://schemas.openxmlformats.org/officeDocument/2006/relationships/tags" Target="../tags/tag36.xml"/><Relationship Id="rId14" Type="http://schemas.openxmlformats.org/officeDocument/2006/relationships/tags" Target="../tags/tag37.xml"/><Relationship Id="rId15" Type="http://schemas.openxmlformats.org/officeDocument/2006/relationships/tags" Target="../tags/tag38.xml"/><Relationship Id="rId16" Type="http://schemas.openxmlformats.org/officeDocument/2006/relationships/tags" Target="../tags/tag39.xml"/><Relationship Id="rId17" Type="http://schemas.openxmlformats.org/officeDocument/2006/relationships/tags" Target="../tags/tag40.xml"/><Relationship Id="rId18" Type="http://schemas.openxmlformats.org/officeDocument/2006/relationships/tags" Target="../tags/tag41.xml"/><Relationship Id="rId19" Type="http://schemas.openxmlformats.org/officeDocument/2006/relationships/tags" Target="../tags/tag42.xml"/><Relationship Id="rId20" Type="http://schemas.openxmlformats.org/officeDocument/2006/relationships/tags" Target="../tags/tag43.xml"/><Relationship Id="rId21" Type="http://schemas.openxmlformats.org/officeDocument/2006/relationships/tags" Target="../tags/tag44.xml"/><Relationship Id="rId22" Type="http://schemas.openxmlformats.org/officeDocument/2006/relationships/tags" Target="../tags/tag45.xml"/><Relationship Id="rId23" Type="http://schemas.openxmlformats.org/officeDocument/2006/relationships/tags" Target="../tags/tag46.xml"/><Relationship Id="rId24" Type="http://schemas.openxmlformats.org/officeDocument/2006/relationships/tags" Target="../tags/tag47.xml"/><Relationship Id="rId25" Type="http://schemas.openxmlformats.org/officeDocument/2006/relationships/tags" Target="../tags/tag48.xml"/><Relationship Id="rId26" Type="http://schemas.openxmlformats.org/officeDocument/2006/relationships/slideLayout" Target="../slideLayouts/slideLayout1.xml"/><Relationship Id="rId2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1663065" y="1995170"/>
            <a:ext cx="10528300" cy="1452880"/>
            <a:chOff x="2619" y="3142"/>
            <a:chExt cx="16580" cy="2288"/>
          </a:xfrm>
          <a:solidFill>
            <a:srgbClr val="3C85C3">
              <a:alpha val="70000"/>
            </a:srgbClr>
          </a:solidFill>
        </p:grpSpPr>
        <p:sp>
          <p:nvSpPr>
            <p:cNvPr id="3" name="五边形 2"/>
            <p:cNvSpPr/>
            <p:nvPr/>
          </p:nvSpPr>
          <p:spPr>
            <a:xfrm rot="10800000">
              <a:off x="2619" y="3142"/>
              <a:ext cx="16095" cy="2288"/>
            </a:xfrm>
            <a:prstGeom prst="homePlate">
              <a:avLst>
                <a:gd name="adj" fmla="val 35482"/>
              </a:avLst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89" name="五边形 88"/>
            <p:cNvSpPr/>
            <p:nvPr/>
          </p:nvSpPr>
          <p:spPr>
            <a:xfrm rot="10800000">
              <a:off x="18849" y="3142"/>
              <a:ext cx="351" cy="2288"/>
            </a:xfrm>
            <a:prstGeom prst="homePlate">
              <a:avLst>
                <a:gd name="adj" fmla="val 0"/>
              </a:avLst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TextBox 20"/>
          <p:cNvSpPr txBox="1"/>
          <p:nvPr/>
        </p:nvSpPr>
        <p:spPr>
          <a:xfrm>
            <a:off x="3181350" y="2395220"/>
            <a:ext cx="8399780" cy="7067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动物习作AI智能助教</a:t>
            </a:r>
            <a:r>
              <a:rPr lang="en-US" altLang="zh-CN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4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70" name="TextBox 20"/>
          <p:cNvSpPr txBox="1"/>
          <p:nvPr/>
        </p:nvSpPr>
        <p:spPr>
          <a:xfrm>
            <a:off x="4680585" y="4818380"/>
            <a:ext cx="6762750" cy="8299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惠州市富民小学</a:t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4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  <a:p>
            <a:endParaRPr lang="en-US" altLang="zh-CN" sz="2400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71" name="TextBox 20"/>
          <p:cNvSpPr txBox="1"/>
          <p:nvPr/>
        </p:nvSpPr>
        <p:spPr>
          <a:xfrm>
            <a:off x="4956810" y="4224020"/>
            <a:ext cx="723455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许志超</a:t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en-US" altLang="zh-CN" sz="24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-9525" y="922020"/>
            <a:ext cx="9378315" cy="405130"/>
            <a:chOff x="-15" y="1452"/>
            <a:chExt cx="14769" cy="638"/>
          </a:xfrm>
        </p:grpSpPr>
        <p:sp>
          <p:nvSpPr>
            <p:cNvPr id="2" name="TextBox 20"/>
            <p:cNvSpPr txBox="1"/>
            <p:nvPr/>
          </p:nvSpPr>
          <p:spPr>
            <a:xfrm>
              <a:off x="546" y="1452"/>
              <a:ext cx="14208" cy="62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创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AI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案例类别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: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教育智能体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/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智能信息系统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/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人工智能学习工具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（楷体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20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号）</a:t>
              </a:r>
              <a:endParaRPr lang="zh-CN" altLang="en-US" sz="2000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endParaRPr>
            </a:p>
          </p:txBody>
        </p:sp>
        <p:cxnSp>
          <p:nvCxnSpPr>
            <p:cNvPr id="8" name="直接连接符 7"/>
            <p:cNvCxnSpPr/>
            <p:nvPr/>
          </p:nvCxnSpPr>
          <p:spPr>
            <a:xfrm>
              <a:off x="-15" y="2090"/>
              <a:ext cx="6427" cy="0"/>
            </a:xfrm>
            <a:prstGeom prst="line">
              <a:avLst/>
            </a:prstGeom>
            <a:ln w="25400">
              <a:solidFill>
                <a:srgbClr val="3C85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五边形 8"/>
            <p:cNvSpPr/>
            <p:nvPr/>
          </p:nvSpPr>
          <p:spPr>
            <a:xfrm>
              <a:off x="0" y="1526"/>
              <a:ext cx="513" cy="564"/>
            </a:xfrm>
            <a:prstGeom prst="homePlate">
              <a:avLst>
                <a:gd name="adj" fmla="val 28927"/>
              </a:avLst>
            </a:prstGeom>
            <a:solidFill>
              <a:srgbClr val="3C85C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2997835" y="1392555"/>
            <a:ext cx="8003540" cy="5365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</a:rPr>
              <a:t>1. 痛点：四年级动物类习作，教师无法兼顾48人个性化指导
2. 方案：基于DeepSeek V4 Pro大模型，自主开发AI教育智能体
3. 功能：写作指导、作文批改、互动问答、范文展示
4. 成果：学生习作字数提升32%，批改效率提升60%，并部署至扣子平台</a:t>
            </a:r>
            <a:r>
              <a:rPr lang="en-US" altLang="zh-CN" sz="24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2400" spc="100" dirty="0">
              <a:solidFill>
                <a:schemeClr val="tx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0" y="1392555"/>
            <a:ext cx="2567305" cy="4203700"/>
            <a:chOff x="0" y="2193"/>
            <a:chExt cx="4043" cy="6620"/>
          </a:xfrm>
        </p:grpSpPr>
        <p:sp>
          <p:nvSpPr>
            <p:cNvPr id="5" name="五边形 4"/>
            <p:cNvSpPr/>
            <p:nvPr/>
          </p:nvSpPr>
          <p:spPr>
            <a:xfrm>
              <a:off x="395" y="2193"/>
              <a:ext cx="3648" cy="6620"/>
            </a:xfrm>
            <a:prstGeom prst="homePlate">
              <a:avLst>
                <a:gd name="adj" fmla="val 28927"/>
              </a:avLst>
            </a:prstGeom>
            <a:solidFill>
              <a:srgbClr val="2F559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980" y="3425"/>
              <a:ext cx="1663" cy="40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 fontAlgn="auto">
                <a:spcBef>
                  <a:spcPts val="0"/>
                </a:spcBef>
                <a:spcAft>
                  <a:spcPts val="0"/>
                </a:spcAft>
                <a:defRPr sz="3800" b="1" kern="0" spc="-150">
                  <a:ln w="1905">
                    <a:noFill/>
                  </a:ln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4000" dirty="0">
                  <a:latin typeface="黑体" panose="02010609060101010101" charset="-122"/>
                  <a:ea typeface="黑体" panose="02010609060101010101" charset="-122"/>
                  <a:sym typeface="+mn-ea"/>
                </a:rPr>
                <a:t>案例概述</a:t>
              </a:r>
              <a:endParaRPr lang="zh-CN" altLang="en-US" sz="4000" dirty="0"/>
            </a:p>
          </p:txBody>
        </p:sp>
        <p:sp>
          <p:nvSpPr>
            <p:cNvPr id="41" name="五边形 40"/>
            <p:cNvSpPr/>
            <p:nvPr/>
          </p:nvSpPr>
          <p:spPr>
            <a:xfrm rot="10800000">
              <a:off x="0" y="2193"/>
              <a:ext cx="306" cy="6620"/>
            </a:xfrm>
            <a:prstGeom prst="homePlate">
              <a:avLst>
                <a:gd name="adj" fmla="val 0"/>
              </a:avLst>
            </a:prstGeom>
            <a:solidFill>
              <a:srgbClr val="3E56A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  <p:pic>
        <p:nvPicPr>
          <p:cNvPr id="42" name="Picture 41" descr="modules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00" y="4400000"/>
            <a:ext cx="8500000" cy="420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0" y="1392555"/>
            <a:ext cx="2567305" cy="4203700"/>
            <a:chOff x="0" y="2193"/>
            <a:chExt cx="4043" cy="6620"/>
          </a:xfrm>
        </p:grpSpPr>
        <p:sp>
          <p:nvSpPr>
            <p:cNvPr id="5" name="五边形 4"/>
            <p:cNvSpPr/>
            <p:nvPr/>
          </p:nvSpPr>
          <p:spPr>
            <a:xfrm>
              <a:off x="395" y="2193"/>
              <a:ext cx="3648" cy="6620"/>
            </a:xfrm>
            <a:prstGeom prst="homePlate">
              <a:avLst>
                <a:gd name="adj" fmla="val 28927"/>
              </a:avLst>
            </a:prstGeom>
            <a:solidFill>
              <a:srgbClr val="2F559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980" y="3388"/>
              <a:ext cx="1663" cy="40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 fontAlgn="auto">
                <a:spcBef>
                  <a:spcPts val="0"/>
                </a:spcBef>
                <a:spcAft>
                  <a:spcPts val="0"/>
                </a:spcAft>
                <a:defRPr sz="3800" b="1" kern="0" spc="-150">
                  <a:ln w="1905">
                    <a:noFill/>
                  </a:ln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4000" dirty="0"/>
                <a:t>实现功能</a:t>
              </a:r>
              <a:endParaRPr lang="zh-CN" altLang="en-US" sz="4000" dirty="0"/>
            </a:p>
          </p:txBody>
        </p:sp>
        <p:sp>
          <p:nvSpPr>
            <p:cNvPr id="41" name="五边形 40"/>
            <p:cNvSpPr/>
            <p:nvPr/>
          </p:nvSpPr>
          <p:spPr>
            <a:xfrm rot="10800000">
              <a:off x="0" y="2193"/>
              <a:ext cx="306" cy="6620"/>
            </a:xfrm>
            <a:prstGeom prst="homePlate">
              <a:avLst>
                <a:gd name="adj" fmla="val 0"/>
              </a:avLst>
            </a:prstGeom>
            <a:solidFill>
              <a:srgbClr val="3E56A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  <p:sp>
        <p:nvSpPr>
          <p:cNvPr id="36" name="TextBox 20"/>
          <p:cNvSpPr txBox="1"/>
          <p:nvPr>
            <p:custDataLst>
              <p:tags r:id="rId2"/>
            </p:custDataLst>
          </p:nvPr>
        </p:nvSpPr>
        <p:spPr>
          <a:xfrm>
            <a:off x="4656657" y="1520823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写作闯关模块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7" name="TextBox 20"/>
          <p:cNvSpPr txBox="1"/>
          <p:nvPr>
            <p:custDataLst>
              <p:tags r:id="rId3"/>
            </p:custDataLst>
          </p:nvPr>
        </p:nvSpPr>
        <p:spPr>
          <a:xfrm>
            <a:off x="4656657" y="2659512"/>
            <a:ext cx="6974772" cy="8915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五步引导式写作：选动物→外形→习性→故事→完成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8" name="TextBox 20"/>
          <p:cNvSpPr txBox="1"/>
          <p:nvPr>
            <p:custDataLst>
              <p:tags r:id="rId4"/>
            </p:custDataLst>
          </p:nvPr>
        </p:nvSpPr>
        <p:spPr>
          <a:xfrm>
            <a:off x="4656657" y="3798201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涵盖外形、习性、好词好句、结构</a:t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9" name="TextBox 20"/>
          <p:cNvSpPr txBox="1"/>
          <p:nvPr>
            <p:custDataLst>
              <p:tags r:id="rId5"/>
            </p:custDataLst>
          </p:nvPr>
        </p:nvSpPr>
        <p:spPr>
          <a:xfrm>
            <a:off x="4656657" y="4965464"/>
            <a:ext cx="6974772" cy="12915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可附加具体要求，AI动态调整</a:t>
            </a: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40" name="组合 39"/>
          <p:cNvGrpSpPr/>
          <p:nvPr>
            <p:custDataLst>
              <p:tags r:id="rId6"/>
            </p:custDataLst>
          </p:nvPr>
        </p:nvGrpSpPr>
        <p:grpSpPr>
          <a:xfrm>
            <a:off x="3532085" y="1370965"/>
            <a:ext cx="682625" cy="683260"/>
            <a:chOff x="3162416" y="1535627"/>
            <a:chExt cx="923809" cy="924143"/>
          </a:xfrm>
        </p:grpSpPr>
        <p:grpSp>
          <p:nvGrpSpPr>
            <p:cNvPr id="42" name="组合 41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44" name="组合 43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46" name="同心圆 45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47" name="椭圆 46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45" name="椭圆 44"/>
              <p:cNvSpPr/>
              <p:nvPr>
                <p:custDataLst>
                  <p:tags r:id="rId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43" name="TextBox 20"/>
            <p:cNvSpPr txBox="1"/>
            <p:nvPr>
              <p:custDataLst>
                <p:tags r:id="rId10"/>
              </p:custDataLst>
            </p:nvPr>
          </p:nvSpPr>
          <p:spPr>
            <a:xfrm>
              <a:off x="3299266" y="1703540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8" name="组合 47"/>
          <p:cNvGrpSpPr/>
          <p:nvPr>
            <p:custDataLst>
              <p:tags r:id="rId11"/>
            </p:custDataLst>
          </p:nvPr>
        </p:nvGrpSpPr>
        <p:grpSpPr>
          <a:xfrm>
            <a:off x="3532085" y="2524125"/>
            <a:ext cx="682625" cy="683260"/>
            <a:chOff x="3162416" y="1535627"/>
            <a:chExt cx="923809" cy="924143"/>
          </a:xfrm>
        </p:grpSpPr>
        <p:grpSp>
          <p:nvGrpSpPr>
            <p:cNvPr id="49" name="组合 48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1" name="组合 50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53" name="同心圆 52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54" name="椭圆 53"/>
                <p:cNvSpPr/>
                <p:nvPr>
                  <p:custDataLst>
                    <p:tags r:id="rId1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2" name="椭圆 51"/>
              <p:cNvSpPr/>
              <p:nvPr>
                <p:custDataLst>
                  <p:tags r:id="rId1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0" name="TextBox 20"/>
            <p:cNvSpPr txBox="1"/>
            <p:nvPr>
              <p:custDataLst>
                <p:tags r:id="rId1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二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5" name="组合 54"/>
          <p:cNvGrpSpPr/>
          <p:nvPr>
            <p:custDataLst>
              <p:tags r:id="rId16"/>
            </p:custDataLst>
          </p:nvPr>
        </p:nvGrpSpPr>
        <p:grpSpPr>
          <a:xfrm>
            <a:off x="3532085" y="3676650"/>
            <a:ext cx="682625" cy="683260"/>
            <a:chOff x="3162416" y="1535627"/>
            <a:chExt cx="923809" cy="924143"/>
          </a:xfrm>
        </p:grpSpPr>
        <p:grpSp>
          <p:nvGrpSpPr>
            <p:cNvPr id="56" name="组合 55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8" name="组合 57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0" name="同心圆 59"/>
                <p:cNvSpPr/>
                <p:nvPr>
                  <p:custDataLst>
                    <p:tags r:id="rId1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61" name="椭圆 60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9" name="椭圆 58"/>
              <p:cNvSpPr/>
              <p:nvPr>
                <p:custDataLst>
                  <p:tags r:id="rId1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7" name="TextBox 20"/>
            <p:cNvSpPr txBox="1"/>
            <p:nvPr>
              <p:custDataLst>
                <p:tags r:id="rId20"/>
              </p:custDataLst>
            </p:nvPr>
          </p:nvSpPr>
          <p:spPr>
            <a:xfrm>
              <a:off x="329926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2" name="组合 61"/>
          <p:cNvGrpSpPr/>
          <p:nvPr>
            <p:custDataLst>
              <p:tags r:id="rId21"/>
            </p:custDataLst>
          </p:nvPr>
        </p:nvGrpSpPr>
        <p:grpSpPr>
          <a:xfrm>
            <a:off x="3532085" y="4829175"/>
            <a:ext cx="682625" cy="683260"/>
            <a:chOff x="3162416" y="1535627"/>
            <a:chExt cx="923809" cy="924143"/>
          </a:xfrm>
        </p:grpSpPr>
        <p:grpSp>
          <p:nvGrpSpPr>
            <p:cNvPr id="63" name="组合 62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66" name="组合 65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8" name="同心圆 67"/>
                <p:cNvSpPr/>
                <p:nvPr>
                  <p:custDataLst>
                    <p:tags r:id="rId2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71" name="椭圆 70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67" name="椭圆 66"/>
              <p:cNvSpPr/>
              <p:nvPr>
                <p:custDataLst>
                  <p:tags r:id="rId2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65" name="TextBox 20"/>
            <p:cNvSpPr txBox="1"/>
            <p:nvPr>
              <p:custDataLst>
                <p:tags r:id="rId2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四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72" name="Picture 71" descr="flow_5steps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00000" y="3800000"/>
            <a:ext cx="9000000" cy="360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一、写作指导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26" name="TextBox 20"/>
          <p:cNvSpPr txBox="1"/>
          <p:nvPr/>
        </p:nvSpPr>
        <p:spPr>
          <a:xfrm>
            <a:off x="1038479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实现功能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粘贴习作，AI从内容/语言/情感多维度分析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二、互动问答与范文展示，标注年级和字数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多轮对话式写作答疑，支持连续追问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" name="TextBox 20"/>
          <p:cNvSpPr txBox="1"/>
          <p:nvPr/>
        </p:nvSpPr>
        <p:spPr>
          <a:xfrm>
            <a:off x="1038479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实现功能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0" y="1392555"/>
            <a:ext cx="2567305" cy="4203700"/>
            <a:chOff x="0" y="2193"/>
            <a:chExt cx="4043" cy="6620"/>
          </a:xfrm>
        </p:grpSpPr>
        <p:sp>
          <p:nvSpPr>
            <p:cNvPr id="5" name="五边形 4"/>
            <p:cNvSpPr/>
            <p:nvPr/>
          </p:nvSpPr>
          <p:spPr>
            <a:xfrm>
              <a:off x="395" y="2193"/>
              <a:ext cx="3648" cy="6620"/>
            </a:xfrm>
            <a:prstGeom prst="homePlate">
              <a:avLst>
                <a:gd name="adj" fmla="val 28927"/>
              </a:avLst>
            </a:prstGeom>
            <a:solidFill>
              <a:srgbClr val="2F559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980" y="3377"/>
              <a:ext cx="1663" cy="40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 fontAlgn="auto">
                <a:spcBef>
                  <a:spcPts val="0"/>
                </a:spcBef>
                <a:spcAft>
                  <a:spcPts val="0"/>
                </a:spcAft>
                <a:defRPr sz="3800" b="1" kern="0" spc="-150">
                  <a:ln w="1905">
                    <a:noFill/>
                  </a:ln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4000" dirty="0"/>
                <a:t>应用情况</a:t>
              </a:r>
              <a:endParaRPr lang="zh-CN" altLang="en-US" sz="4000" dirty="0"/>
            </a:p>
          </p:txBody>
        </p:sp>
        <p:sp>
          <p:nvSpPr>
            <p:cNvPr id="41" name="五边形 40"/>
            <p:cNvSpPr/>
            <p:nvPr/>
          </p:nvSpPr>
          <p:spPr>
            <a:xfrm rot="10800000">
              <a:off x="0" y="2193"/>
              <a:ext cx="306" cy="6620"/>
            </a:xfrm>
            <a:prstGeom prst="homePlate">
              <a:avLst>
                <a:gd name="adj" fmla="val 0"/>
              </a:avLst>
            </a:prstGeom>
            <a:solidFill>
              <a:srgbClr val="3E56A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  <p:sp>
        <p:nvSpPr>
          <p:cNvPr id="36" name="TextBox 20"/>
          <p:cNvSpPr txBox="1"/>
          <p:nvPr>
            <p:custDataLst>
              <p:tags r:id="rId2"/>
            </p:custDataLst>
          </p:nvPr>
        </p:nvSpPr>
        <p:spPr>
          <a:xfrm>
            <a:off x="4656657" y="1520823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应用场景概述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7" name="TextBox 20"/>
          <p:cNvSpPr txBox="1"/>
          <p:nvPr>
            <p:custDataLst>
              <p:tags r:id="rId3"/>
            </p:custDataLst>
          </p:nvPr>
        </p:nvSpPr>
        <p:spPr>
          <a:xfrm>
            <a:off x="4656657" y="2659512"/>
            <a:ext cx="6974772" cy="8915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习作指导课 + 课后批改 + 自主练习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8" name="TextBox 20"/>
          <p:cNvSpPr txBox="1"/>
          <p:nvPr>
            <p:custDataLst>
              <p:tags r:id="rId4"/>
            </p:custDataLst>
          </p:nvPr>
        </p:nvSpPr>
        <p:spPr>
          <a:xfrm>
            <a:off x="4656657" y="3798201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覆盖180名学生，4个班级</a:t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9" name="TextBox 20"/>
          <p:cNvSpPr txBox="1"/>
          <p:nvPr>
            <p:custDataLst>
              <p:tags r:id="rId5"/>
            </p:custDataLst>
          </p:nvPr>
        </p:nvSpPr>
        <p:spPr>
          <a:xfrm>
            <a:off x="4656657" y="4965464"/>
            <a:ext cx="6974772" cy="12915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习作字数提升32%，批改效率提升60%</a:t>
            </a: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40" name="组合 39"/>
          <p:cNvGrpSpPr/>
          <p:nvPr>
            <p:custDataLst>
              <p:tags r:id="rId6"/>
            </p:custDataLst>
          </p:nvPr>
        </p:nvGrpSpPr>
        <p:grpSpPr>
          <a:xfrm>
            <a:off x="3532085" y="1370965"/>
            <a:ext cx="682625" cy="683260"/>
            <a:chOff x="3162416" y="1535627"/>
            <a:chExt cx="923809" cy="924143"/>
          </a:xfrm>
        </p:grpSpPr>
        <p:grpSp>
          <p:nvGrpSpPr>
            <p:cNvPr id="42" name="组合 41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44" name="组合 43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46" name="同心圆 45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47" name="椭圆 46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45" name="椭圆 44"/>
              <p:cNvSpPr/>
              <p:nvPr>
                <p:custDataLst>
                  <p:tags r:id="rId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43" name="TextBox 20"/>
            <p:cNvSpPr txBox="1"/>
            <p:nvPr>
              <p:custDataLst>
                <p:tags r:id="rId10"/>
              </p:custDataLst>
            </p:nvPr>
          </p:nvSpPr>
          <p:spPr>
            <a:xfrm>
              <a:off x="3299266" y="1703540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8" name="组合 47"/>
          <p:cNvGrpSpPr/>
          <p:nvPr>
            <p:custDataLst>
              <p:tags r:id="rId11"/>
            </p:custDataLst>
          </p:nvPr>
        </p:nvGrpSpPr>
        <p:grpSpPr>
          <a:xfrm>
            <a:off x="3532085" y="2524125"/>
            <a:ext cx="682625" cy="683260"/>
            <a:chOff x="3162416" y="1535627"/>
            <a:chExt cx="923809" cy="924143"/>
          </a:xfrm>
        </p:grpSpPr>
        <p:grpSp>
          <p:nvGrpSpPr>
            <p:cNvPr id="49" name="组合 48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1" name="组合 50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53" name="同心圆 52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54" name="椭圆 53"/>
                <p:cNvSpPr/>
                <p:nvPr>
                  <p:custDataLst>
                    <p:tags r:id="rId1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2" name="椭圆 51"/>
              <p:cNvSpPr/>
              <p:nvPr>
                <p:custDataLst>
                  <p:tags r:id="rId1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0" name="TextBox 20"/>
            <p:cNvSpPr txBox="1"/>
            <p:nvPr>
              <p:custDataLst>
                <p:tags r:id="rId1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二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5" name="组合 54"/>
          <p:cNvGrpSpPr/>
          <p:nvPr>
            <p:custDataLst>
              <p:tags r:id="rId16"/>
            </p:custDataLst>
          </p:nvPr>
        </p:nvGrpSpPr>
        <p:grpSpPr>
          <a:xfrm>
            <a:off x="3532085" y="3676650"/>
            <a:ext cx="682625" cy="683260"/>
            <a:chOff x="3162416" y="1535627"/>
            <a:chExt cx="923809" cy="924143"/>
          </a:xfrm>
        </p:grpSpPr>
        <p:grpSp>
          <p:nvGrpSpPr>
            <p:cNvPr id="56" name="组合 55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8" name="组合 57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0" name="同心圆 59"/>
                <p:cNvSpPr/>
                <p:nvPr>
                  <p:custDataLst>
                    <p:tags r:id="rId1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61" name="椭圆 60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9" name="椭圆 58"/>
              <p:cNvSpPr/>
              <p:nvPr>
                <p:custDataLst>
                  <p:tags r:id="rId1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7" name="TextBox 20"/>
            <p:cNvSpPr txBox="1"/>
            <p:nvPr>
              <p:custDataLst>
                <p:tags r:id="rId20"/>
              </p:custDataLst>
            </p:nvPr>
          </p:nvSpPr>
          <p:spPr>
            <a:xfrm>
              <a:off x="329926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2" name="组合 61"/>
          <p:cNvGrpSpPr/>
          <p:nvPr>
            <p:custDataLst>
              <p:tags r:id="rId21"/>
            </p:custDataLst>
          </p:nvPr>
        </p:nvGrpSpPr>
        <p:grpSpPr>
          <a:xfrm>
            <a:off x="3532085" y="4829175"/>
            <a:ext cx="682625" cy="683260"/>
            <a:chOff x="3162416" y="1535627"/>
            <a:chExt cx="923809" cy="924143"/>
          </a:xfrm>
        </p:grpSpPr>
        <p:grpSp>
          <p:nvGrpSpPr>
            <p:cNvPr id="63" name="组合 62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66" name="组合 65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8" name="同心圆 67"/>
                <p:cNvSpPr/>
                <p:nvPr>
                  <p:custDataLst>
                    <p:tags r:id="rId2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71" name="椭圆 70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67" name="椭圆 66"/>
              <p:cNvSpPr/>
              <p:nvPr>
                <p:custDataLst>
                  <p:tags r:id="rId2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65" name="TextBox 20"/>
            <p:cNvSpPr txBox="1"/>
            <p:nvPr>
              <p:custDataLst>
                <p:tags r:id="rId2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四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72" name="Picture 71" descr="data_chart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00000" y="4200000"/>
            <a:ext cx="8500000" cy="350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一、课堂应用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26" name="TextBox 20"/>
          <p:cNvSpPr txBox="1"/>
          <p:nvPr/>
        </p:nvSpPr>
        <p:spPr>
          <a:xfrm>
            <a:off x="1032891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应用情况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习作指导课：AI一对一辅导，每个学生都有针对性建议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二、创新与合规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一生一导个性化教学 + 精准聚焦高频痛点 + 严格遵循AI使用指南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" name="TextBox 20"/>
          <p:cNvSpPr txBox="1"/>
          <p:nvPr/>
        </p:nvSpPr>
        <p:spPr>
          <a:xfrm>
            <a:off x="1032891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应用情况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/>
          <p:cNvSpPr>
            <a:spLocks noGrp="1"/>
          </p:cNvSpPr>
          <p:nvPr>
            <p:ph type="body" idx="13"/>
          </p:nvPr>
        </p:nvSpPr>
        <p:spPr>
          <a:xfrm>
            <a:off x="4960773" y="2474136"/>
            <a:ext cx="5633085" cy="16516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sz="7200" b="1" spc="100" dirty="0">
                <a:solidFill>
                  <a:schemeClr val="bg1"/>
                </a:solidFill>
                <a:latin typeface="楷体" charset="0"/>
                <a:ea typeface="楷体" charset="0"/>
              </a:rPr>
              <a:t>谢谢！</a:t>
            </a:r>
            <a:endParaRPr lang="zh-CN" altLang="en-US" sz="7200" b="1" spc="100" dirty="0">
              <a:solidFill>
                <a:schemeClr val="bg1"/>
              </a:solidFill>
              <a:latin typeface="楷体" charset="0"/>
              <a:ea typeface="楷体" charset="0"/>
            </a:endParaRPr>
          </a:p>
          <a:p>
            <a:r>
              <a:rPr sz="1200"/>
              <a:t>GitHub: github.com/707978439-cpu/animal-writing-assistant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9.xml><?xml version="1.0" encoding="utf-8"?>
<p:tagLst xmlns:p="http://schemas.openxmlformats.org/presentationml/2006/main">
  <p:tag name="RESOURCE_RECORD_KEY" val="{&quot;13&quot;:[4519456,4519452,20025430,4364924,4364903,4364942]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432</Words>
  <Application>WPS 演示</Application>
  <PresentationFormat>宽屏</PresentationFormat>
  <Paragraphs>81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27" baseType="lpstr">
      <vt:lpstr>Arial</vt:lpstr>
      <vt:lpstr>宋体</vt:lpstr>
      <vt:lpstr>Wingdings</vt:lpstr>
      <vt:lpstr>Nimbus Roman No9 L</vt:lpstr>
      <vt:lpstr>微软雅黑</vt:lpstr>
      <vt:lpstr>楷体</vt:lpstr>
      <vt:lpstr>方正楷体_GBK</vt:lpstr>
      <vt:lpstr>黑体</vt:lpstr>
      <vt:lpstr>方正黑体_GBK</vt:lpstr>
      <vt:lpstr>宋体</vt:lpstr>
      <vt:lpstr>Arial Unicode MS</vt:lpstr>
      <vt:lpstr>等线 Light</vt:lpstr>
      <vt:lpstr>国标仿宋</vt:lpstr>
      <vt:lpstr>等线</vt:lpstr>
      <vt:lpstr>Calibri</vt:lpstr>
      <vt:lpstr>方正书宋_GBK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LRC</cp:lastModifiedBy>
  <cp:revision>137</cp:revision>
  <dcterms:created xsi:type="dcterms:W3CDTF">2026-03-16T02:33:31Z</dcterms:created>
  <dcterms:modified xsi:type="dcterms:W3CDTF">2026-03-16T02:33:31Z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2052-12.8.2.1119</vt:lpwstr>
  </property>
  <property fmtid="{D5CDD505-2E9C-101B-9397-08002B2CF9AE}" pid="3" name="KSOTemplateUUID">
    <vt:lpwstr>v1.0_mb_YFc6q+HctIANJrpWT950vA==</vt:lpwstr>
  </property>
  <property fmtid="{D5CDD505-2E9C-101B-9397-08002B2CF9AE}" pid="4" name="ICV">
    <vt:lpwstr>7F7ACFEE96524FCF746AB769A5D8BC47_43</vt:lpwstr>
  </property>
</Properties>
</file>