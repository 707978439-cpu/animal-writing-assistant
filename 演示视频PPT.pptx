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334" r:id="rId4"/>
    <p:sldId id="300" r:id="rId5"/>
    <p:sldId id="328" r:id="rId6"/>
    <p:sldId id="338" r:id="rId7"/>
    <p:sldId id="339" r:id="rId8"/>
    <p:sldId id="341" r:id="rId9"/>
    <p:sldId id="326" r:id="rId10"/>
    <p:sldId id="331" r:id="rId11"/>
    <p:sldId id="34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C3"/>
    <a:srgbClr val="FFFFFF"/>
    <a:srgbClr val="3E56A3"/>
    <a:srgbClr val="2C489A"/>
    <a:srgbClr val="2C489B"/>
    <a:srgbClr val="2B4A99"/>
    <a:srgbClr val="4466A2"/>
    <a:srgbClr val="2F5597"/>
    <a:srgbClr val="3E57A3"/>
    <a:srgbClr val="3F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0" y="66"/>
      </p:cViewPr>
      <p:guideLst>
        <p:guide orient="horz" pos="22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tags" Target="tags/tag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tags" Target="../tags/tag21.xml"/><Relationship Id="rId23" Type="http://schemas.openxmlformats.org/officeDocument/2006/relationships/tags" Target="../tags/tag22.xml"/><Relationship Id="rId24" Type="http://schemas.openxmlformats.org/officeDocument/2006/relationships/tags" Target="../tags/tag23.xml"/><Relationship Id="rId25" Type="http://schemas.openxmlformats.org/officeDocument/2006/relationships/tags" Target="../tags/tag24.xml"/><Relationship Id="rId26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Relationship Id="rId9" Type="http://schemas.openxmlformats.org/officeDocument/2006/relationships/tags" Target="../tags/tag32.xml"/><Relationship Id="rId10" Type="http://schemas.openxmlformats.org/officeDocument/2006/relationships/tags" Target="../tags/tag33.xml"/><Relationship Id="rId11" Type="http://schemas.openxmlformats.org/officeDocument/2006/relationships/tags" Target="../tags/tag34.xml"/><Relationship Id="rId12" Type="http://schemas.openxmlformats.org/officeDocument/2006/relationships/tags" Target="../tags/tag35.xml"/><Relationship Id="rId13" Type="http://schemas.openxmlformats.org/officeDocument/2006/relationships/tags" Target="../tags/tag36.xml"/><Relationship Id="rId14" Type="http://schemas.openxmlformats.org/officeDocument/2006/relationships/tags" Target="../tags/tag37.xml"/><Relationship Id="rId15" Type="http://schemas.openxmlformats.org/officeDocument/2006/relationships/tags" Target="../tags/tag38.xml"/><Relationship Id="rId16" Type="http://schemas.openxmlformats.org/officeDocument/2006/relationships/tags" Target="../tags/tag39.xml"/><Relationship Id="rId17" Type="http://schemas.openxmlformats.org/officeDocument/2006/relationships/tags" Target="../tags/tag40.xml"/><Relationship Id="rId18" Type="http://schemas.openxmlformats.org/officeDocument/2006/relationships/tags" Target="../tags/tag41.xml"/><Relationship Id="rId19" Type="http://schemas.openxmlformats.org/officeDocument/2006/relationships/tags" Target="../tags/tag42.xml"/><Relationship Id="rId20" Type="http://schemas.openxmlformats.org/officeDocument/2006/relationships/tags" Target="../tags/tag43.xml"/><Relationship Id="rId21" Type="http://schemas.openxmlformats.org/officeDocument/2006/relationships/tags" Target="../tags/tag44.xml"/><Relationship Id="rId22" Type="http://schemas.openxmlformats.org/officeDocument/2006/relationships/tags" Target="../tags/tag45.xml"/><Relationship Id="rId23" Type="http://schemas.openxmlformats.org/officeDocument/2006/relationships/tags" Target="../tags/tag46.xml"/><Relationship Id="rId24" Type="http://schemas.openxmlformats.org/officeDocument/2006/relationships/tags" Target="../tags/tag47.xml"/><Relationship Id="rId25" Type="http://schemas.openxmlformats.org/officeDocument/2006/relationships/tags" Target="../tags/tag48.xml"/><Relationship Id="rId2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663065" y="1995170"/>
            <a:ext cx="10528300" cy="1452880"/>
            <a:chOff x="2619" y="3142"/>
            <a:chExt cx="16580" cy="2288"/>
          </a:xfrm>
          <a:solidFill>
            <a:srgbClr val="3C85C3">
              <a:alpha val="70000"/>
            </a:srgbClr>
          </a:solidFill>
        </p:grpSpPr>
        <p:sp>
          <p:nvSpPr>
            <p:cNvPr id="3" name="五边形 2"/>
            <p:cNvSpPr/>
            <p:nvPr/>
          </p:nvSpPr>
          <p:spPr>
            <a:xfrm rot="10800000">
              <a:off x="2619" y="3142"/>
              <a:ext cx="16095" cy="2288"/>
            </a:xfrm>
            <a:prstGeom prst="homePlate">
              <a:avLst>
                <a:gd name="adj" fmla="val 35482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89" name="五边形 88"/>
            <p:cNvSpPr/>
            <p:nvPr/>
          </p:nvSpPr>
          <p:spPr>
            <a:xfrm rot="10800000">
              <a:off x="18849" y="3142"/>
              <a:ext cx="351" cy="2288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TextBox 20"/>
          <p:cNvSpPr txBox="1"/>
          <p:nvPr/>
        </p:nvSpPr>
        <p:spPr>
          <a:xfrm>
            <a:off x="3181350" y="2395220"/>
            <a:ext cx="8399780" cy="706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</a:rPr>
              <a:t>动物习作AI智能助教</a:t>
            </a:r>
            <a:endParaRPr lang="zh-CN" altLang="en-US" sz="4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70" name="TextBox 20"/>
          <p:cNvSpPr txBox="1"/>
          <p:nvPr/>
        </p:nvSpPr>
        <p:spPr>
          <a:xfrm>
            <a:off x="4680585" y="4818380"/>
            <a:ext cx="6762750" cy="829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惠州市富民小学</a:t>
            </a:r>
            <a:endParaRPr lang="zh-CN" altLang="en-US" sz="24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  <a:p>
            <a:endParaRPr lang="en-US" altLang="zh-CN" sz="2400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71" name="TextBox 20"/>
          <p:cNvSpPr txBox="1"/>
          <p:nvPr/>
        </p:nvSpPr>
        <p:spPr>
          <a:xfrm>
            <a:off x="4956810" y="4224020"/>
            <a:ext cx="723455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en-US" altLang="zh-CN" sz="24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</a:rPr>
              <a:t>许志超</a:t>
            </a:r>
            <a:endParaRPr lang="en-US" altLang="zh-CN" sz="24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-9525" y="922020"/>
            <a:ext cx="9378315" cy="405130"/>
            <a:chOff x="-15" y="1452"/>
            <a:chExt cx="14769" cy="638"/>
          </a:xfrm>
        </p:grpSpPr>
        <p:sp>
          <p:nvSpPr>
            <p:cNvPr id="2" name="TextBox 20"/>
            <p:cNvSpPr txBox="1"/>
            <p:nvPr/>
          </p:nvSpPr>
          <p:spPr>
            <a:xfrm>
              <a:off x="546" y="1452"/>
              <a:ext cx="14208" cy="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创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AI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案例类别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: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教育智能体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/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智能信息系统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/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人工智能学习工具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（楷体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20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charset="0"/>
                  <a:ea typeface="楷体" charset="0"/>
                  <a:cs typeface="楷体" charset="0"/>
                </a:rPr>
                <a:t>号）</a:t>
              </a:r>
              <a:endParaRPr lang="zh-CN" altLang="en-US" sz="2000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  <a:sym typeface="+mn-ea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-15" y="2090"/>
              <a:ext cx="6427" cy="0"/>
            </a:xfrm>
            <a:prstGeom prst="line">
              <a:avLst/>
            </a:prstGeom>
            <a:ln w="25400">
              <a:solidFill>
                <a:srgbClr val="3C85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五边形 8"/>
            <p:cNvSpPr/>
            <p:nvPr/>
          </p:nvSpPr>
          <p:spPr>
            <a:xfrm>
              <a:off x="0" y="1526"/>
              <a:ext cx="513" cy="564"/>
            </a:xfrm>
            <a:prstGeom prst="homePlate">
              <a:avLst>
                <a:gd name="adj" fmla="val 28927"/>
              </a:avLst>
            </a:prstGeom>
            <a:solidFill>
              <a:srgbClr val="3C85C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2997835" y="1392555"/>
            <a:ext cx="8003540" cy="536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</a:rPr>
              <a:t>1. 痛点：四年级动物类习作，教师无法兼顾48人个性化指导
2. 方案：基于DeepSeek V4 Pro大模型，自主开发AI教育智能体
3. 功能：写作指导、作文批改、互动问答、范文展示
4. 成果：学生习作字数提升32%，批改效率提升60%，并部署至</a:t>
            </a:r>
            <a:r>
              <a:rPr lang="en-US" altLang="zh-CN" sz="24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</a:rPr>
              <a:t>github</a:t>
            </a:r>
            <a:r>
              <a:rPr lang="zh-CN" altLang="en-US" sz="24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</a:rPr>
              <a:t>代码共享平台</a:t>
            </a:r>
            <a:r>
              <a:rPr lang="zh-CN" altLang="en-US" sz="24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</a:rPr>
              <a:t>以及国内广泛应用</a:t>
            </a:r>
            <a:r>
              <a:rPr lang="zh-CN" altLang="en-US" sz="24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</a:rPr>
              <a:t>的扣子平台 | 兼容电脑/手机/希沃白板，多设备同时访问</a:t>
            </a:r>
            <a:endParaRPr lang="zh-CN" altLang="en-US" sz="2400" spc="100" dirty="0">
              <a:solidFill>
                <a:schemeClr val="tx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425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dirty="0">
                  <a:latin typeface="黑体" panose="02010609060101010101" charset="-122"/>
                  <a:ea typeface="黑体" panose="02010609060101010101" charset="-122"/>
                  <a:sym typeface="+mn-ea"/>
                </a:rPr>
                <a:t>案例概述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88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4000" dirty="0"/>
                <a:t>实现功能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写作闯关模块</a:t>
            </a:r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五步引导式写作：选动物→外形→习性→故事→完成</a:t>
            </a:r>
            <a:endParaRPr lang="en-US" altLang="zh-CN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涵盖外形、习性、好词好句、结构</a:t>
            </a: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可附加具体要求，AI动态调整</a:t>
            </a: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</a:rPr>
              <a:t>一、写作指导</a:t>
            </a:r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038479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实现功能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1. 粘贴习作，AI从内容/语言/情感多维度分析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</a:rPr>
              <a:t>二、互动问答与范文展示，标注年级和字数</a:t>
            </a:r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1. 多轮对话式写作答疑，支持连续追问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1038479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实现功能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77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4000" dirty="0"/>
                <a:t>应用情况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应用场景概述 | 多设备兼容：电脑/手机/教室白板均可</a:t>
            </a:r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习作指导课 + 课后批改 + 自主练习</a:t>
            </a:r>
            <a:endParaRPr lang="en-US" altLang="zh-CN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覆盖180名学生，4个班级</a:t>
            </a: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sz="2600" b="1" spc="100" dirty="0">
                <a:solidFill>
                  <a:srgbClr val="0070C0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习作字数提升32%，批改效率提升60%</a:t>
            </a: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楷体" charset="0"/>
              <a:ea typeface="楷体" charset="0"/>
              <a:cs typeface="楷体" charset="0"/>
            </a:endParaRPr>
          </a:p>
          <a:p>
            <a:pPr algn="l">
              <a:buClrTx/>
              <a:buSzTx/>
              <a:buFontTx/>
            </a:pP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一、课堂应用</a:t>
            </a:r>
            <a:endParaRPr lang="zh-CN" altLang="en-US" sz="3000" b="1" spc="1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应用情况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1. 习作指导课：AI一对一辅导，每个学生都有针对性建议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000" b="1" spc="100" dirty="0">
                <a:solidFill>
                  <a:schemeClr val="bg1"/>
                </a:solidFill>
                <a:latin typeface="楷体" charset="0"/>
                <a:ea typeface="楷体" charset="0"/>
                <a:cs typeface="楷体" charset="0"/>
              </a:rPr>
              <a:t>二、创新与合规</a:t>
            </a:r>
            <a:endParaRPr lang="zh-CN" altLang="en-US" sz="3000" b="1" spc="100" dirty="0">
              <a:solidFill>
                <a:schemeClr val="bg1"/>
              </a:solidFill>
              <a:latin typeface="楷体" charset="0"/>
              <a:ea typeface="楷体" charset="0"/>
              <a:cs typeface="楷体" charset="0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spc="100" dirty="0">
                <a:solidFill>
                  <a:schemeClr val="tx1"/>
                </a:solidFill>
                <a:latin typeface="楷体" charset="0"/>
                <a:ea typeface="楷体" charset="0"/>
                <a:cs typeface="楷体" charset="0"/>
                <a:sym typeface="+mn-ea"/>
              </a:rPr>
              <a:t>1. 一生一导个性化教学 + 精准聚焦高频痛点 + 严格遵循AI使用指南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应用情况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4960773" y="2474136"/>
            <a:ext cx="5633085" cy="1651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7200" b="1" spc="100" dirty="0">
                <a:solidFill>
                  <a:schemeClr val="bg1"/>
                </a:solidFill>
                <a:latin typeface="楷体" charset="0"/>
                <a:ea typeface="楷体" charset="0"/>
              </a:rPr>
              <a:t>谢谢！</a:t>
            </a:r>
            <a:endParaRPr lang="zh-CN" altLang="en-US" sz="7200" b="1" spc="100" dirty="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sz="1200"/>
              <a:t>GitHub: github.com/707978439-cpu/animal-writing-assistant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9.xml><?xml version="1.0" encoding="utf-8"?>
<p:tagLst xmlns:p="http://schemas.openxmlformats.org/presentationml/2006/main">
  <p:tag name="RESOURCE_RECORD_KEY" val="{&quot;13&quot;:[4519456,4519452,20025430,4364924,4364903,43649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演示</Application>
  <PresentationFormat>宽屏</PresentationFormat>
  <Paragraphs>82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楷体</vt:lpstr>
      <vt:lpstr>汉仪楷体KW</vt:lpstr>
      <vt:lpstr>黑体</vt:lpstr>
      <vt:lpstr>汉仪旗黑</vt:lpstr>
      <vt:lpstr>等线</vt:lpstr>
      <vt:lpstr>汉仪中等线KW</vt:lpstr>
      <vt:lpstr>宋体</vt:lpstr>
      <vt:lpstr>Arial Unicode MS</vt:lpstr>
      <vt:lpstr>等线 Light</vt:lpstr>
      <vt:lpstr>Calibri</vt:lpstr>
      <vt:lpstr>Helvetica Neue</vt:lpstr>
      <vt:lpstr>汉仪书宋二KW</vt:lpstr>
      <vt:lpstr>汉仪中黑KW</vt:lpstr>
      <vt:lpstr>微软雅黑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许志超</cp:lastModifiedBy>
  <cp:revision>138</cp:revision>
  <dcterms:created xsi:type="dcterms:W3CDTF">2026-05-08T17:02:28Z</dcterms:created>
  <dcterms:modified xsi:type="dcterms:W3CDTF">2026-05-08T17:02:28Z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KSOTemplateUUID">
    <vt:lpwstr>v1.0_mb_YFc6q+HctIANJrpWT950vA==</vt:lpwstr>
  </property>
  <property fmtid="{D5CDD505-2E9C-101B-9397-08002B2CF9AE}" pid="4" name="ICV">
    <vt:lpwstr>7F7ACFEE96524FCF746AB769A5D8BC47_43</vt:lpwstr>
  </property>
</Properties>
</file>